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notesMasterIdLst>
    <p:notesMasterId r:id="rId15"/>
  </p:notesMasterIdLst>
  <p:sldIdLst>
    <p:sldId id="256" r:id="rId2"/>
    <p:sldId id="259" r:id="rId3"/>
    <p:sldId id="260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69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6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658F9-18C2-44A9-BE90-B9DA135C00A3}" type="datetimeFigureOut">
              <a:rPr lang="en-US" smtClean="0"/>
              <a:t>12/9/24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E6E41-2A1B-4433-B77D-EC0B650A81C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55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87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088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59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09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54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060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64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17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2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64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4208" y="1278315"/>
            <a:ext cx="9144000" cy="7956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Spam Detection Using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1592" y="3373521"/>
            <a:ext cx="10608815" cy="2911876"/>
          </a:xfrm>
        </p:spPr>
        <p:txBody>
          <a:bodyPr>
            <a:normAutofit/>
          </a:bodyPr>
          <a:lstStyle/>
          <a:p>
            <a:pPr algn="ctr" rtl="0">
              <a:spcBef>
                <a:spcPts val="1200"/>
              </a:spcBef>
              <a:spcAft>
                <a:spcPts val="1200"/>
              </a:spcAft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+mn-lt"/>
              </a:rPr>
              <a:t>Group </a:t>
            </a:r>
            <a:r>
              <a:rPr lang="en-US" altLang="zh-CN" sz="1700" b="0" i="0" u="none" strike="noStrike" dirty="0">
                <a:solidFill>
                  <a:srgbClr val="000000"/>
                </a:solidFill>
                <a:effectLst/>
                <a:latin typeface="+mn-lt"/>
              </a:rPr>
              <a:t>29</a:t>
            </a: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+mn-lt"/>
              </a:rPr>
              <a:t>: Zihan Wang</a:t>
            </a:r>
            <a:endParaRPr lang="en-US" sz="1700" b="0" dirty="0">
              <a:effectLst/>
              <a:latin typeface="+mn-lt"/>
            </a:endParaRPr>
          </a:p>
          <a:p>
            <a:pPr algn="ctr" rtl="0">
              <a:spcBef>
                <a:spcPts val="1200"/>
              </a:spcBef>
              <a:spcAft>
                <a:spcPts val="1200"/>
              </a:spcAft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+mn-lt"/>
              </a:rPr>
              <a:t>Date: </a:t>
            </a:r>
            <a:r>
              <a:rPr lang="en-US" sz="1700" dirty="0">
                <a:solidFill>
                  <a:srgbClr val="000000"/>
                </a:solidFill>
                <a:latin typeface="+mn-lt"/>
              </a:rPr>
              <a:t>December</a:t>
            </a: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+mn-lt"/>
              </a:rPr>
              <a:t> 6, 2024</a:t>
            </a:r>
            <a:endParaRPr lang="en-US" sz="1700" b="0" dirty="0">
              <a:effectLst/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pic>
        <p:nvPicPr>
          <p:cNvPr id="4" name="Google Shape;81;p1" descr="Image result for neu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30764" y="225781"/>
            <a:ext cx="1450344" cy="14503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2373030-999F-2F12-56FF-EA8EC4C71618}"/>
              </a:ext>
            </a:extLst>
          </p:cNvPr>
          <p:cNvSpPr txBox="1">
            <a:spLocks/>
          </p:cNvSpPr>
          <p:nvPr/>
        </p:nvSpPr>
        <p:spPr>
          <a:xfrm>
            <a:off x="1624208" y="2127013"/>
            <a:ext cx="9144000" cy="795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zh-CN" sz="2400" dirty="0"/>
              <a:t>Applying NLP Techniques to Classify SMS Messages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F89FC01-D0CF-4899-A184-1F0070363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4E5A9FF-C93F-4A6D-ABDE-2533C301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890A4124-979D-4376-AA58-6501D58B6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42"/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>
                <a:solidFill>
                  <a:schemeClr val="accent2"/>
                </a:solidFill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800" spc="-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1026" name="Picture 2" descr="Spam Emails - What To Look For In 2019 | The VIPLounge">
            <a:extLst>
              <a:ext uri="{FF2B5EF4-FFF2-40B4-BE49-F238E27FC236}">
                <a16:creationId xmlns:a16="http://schemas.microsoft.com/office/drawing/2014/main" id="{E6DC3D9B-7B21-9E3B-1884-DD1F4B14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432" y="1889291"/>
            <a:ext cx="3094997" cy="207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39733" y="1845734"/>
            <a:ext cx="651594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Problem in Email: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 Managing unsolicited spam messages in communication systems.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Objective: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 Build a machine learning model to classify SMS messages as spam or non-spam.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89FC01-D0CF-4899-A184-1F0070363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5A9FF-C93F-4A6D-ABDE-2533C301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0A4124-979D-4376-AA58-6501D58B6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42"/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Data Cleaning and Preparation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55849-8568-31F5-6DD9-375FF6F90B4B}"/>
              </a:ext>
            </a:extLst>
          </p:cNvPr>
          <p:cNvSpPr txBox="1"/>
          <p:nvPr/>
        </p:nvSpPr>
        <p:spPr>
          <a:xfrm>
            <a:off x="1097279" y="1845734"/>
            <a:ext cx="645498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Source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: SMS Spam Collection Dataset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Total Messages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: 5,572 (Reduced to 5,169 after cleaning)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Features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Original Text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Label (ham or spam)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Key Challenge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: Dataset imbalance (More ham than spam).</a:t>
            </a:r>
          </a:p>
        </p:txBody>
      </p:sp>
      <p:pic>
        <p:nvPicPr>
          <p:cNvPr id="4" name="图片 3" descr="图表, 饼图&#10;&#10;描述已自动生成">
            <a:extLst>
              <a:ext uri="{FF2B5EF4-FFF2-40B4-BE49-F238E27FC236}">
                <a16:creationId xmlns:a16="http://schemas.microsoft.com/office/drawing/2014/main" id="{04E24C56-792B-0C3A-0881-2560CDB56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570" y="2103864"/>
            <a:ext cx="3135109" cy="30959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C032-A9CE-5BD6-116D-23612E6C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2">
            <a:extLst>
              <a:ext uri="{FF2B5EF4-FFF2-40B4-BE49-F238E27FC236}">
                <a16:creationId xmlns:a16="http://schemas.microsoft.com/office/drawing/2014/main" id="{864F200F-515A-1F3D-E138-D289C4ADD95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" altLang="zh-CN" sz="4800" dirty="0"/>
              <a:t>Preprocessing</a:t>
            </a:r>
            <a:endParaRPr lang="en-US" altLang="zh-CN" sz="4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8FCC1-3DCA-2E98-43D9-853215D57560}"/>
              </a:ext>
            </a:extLst>
          </p:cNvPr>
          <p:cNvSpPr txBox="1"/>
          <p:nvPr/>
        </p:nvSpPr>
        <p:spPr>
          <a:xfrm>
            <a:off x="1097279" y="1845734"/>
            <a:ext cx="645498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" altLang="zh-CN" b="1" dirty="0"/>
              <a:t>Steps Taken</a:t>
            </a:r>
            <a:r>
              <a:rPr lang="en" altLang="zh-CN" dirty="0"/>
              <a:t>: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dirty="0"/>
              <a:t>Removed duplicates and unnecessary columns.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dirty="0"/>
              <a:t>Label encoding (ham → 0, spam → 1).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dirty="0"/>
              <a:t>Text transformations: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dirty="0"/>
              <a:t>Lowercasing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dirty="0"/>
              <a:t>Tokenization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dirty="0"/>
              <a:t>Removing stop words and punctuation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dirty="0"/>
              <a:t>Stemming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endParaRPr lang="en" altLang="zh-CN" dirty="0"/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b="1" dirty="0"/>
              <a:t>Outcome</a:t>
            </a:r>
            <a:r>
              <a:rPr lang="en" altLang="zh-CN" dirty="0"/>
              <a:t>: Cleaned and transformed text ready for vectorization.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2904858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6E6CE-2E8C-EF1C-D278-E38CD18EB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B747DB9-8CFA-4A65-A985-952FFF5D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F263D-FA46-4F26-8926-727B7B9A7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B2FBB7-BEF1-4A3E-8E74-C332D946C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40CFCEF-A581-428C-B072-78EDEE86F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42">
            <a:extLst>
              <a:ext uri="{FF2B5EF4-FFF2-40B4-BE49-F238E27FC236}">
                <a16:creationId xmlns:a16="http://schemas.microsoft.com/office/drawing/2014/main" id="{324CD290-0E25-A745-6481-B7A29906F07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03577" y="634946"/>
            <a:ext cx="6846166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800" spc="-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Exploratory Data Analysis (EDA)</a:t>
            </a:r>
            <a:endParaRPr lang="en-US" altLang="zh-CN" sz="4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2D4F0B-20E3-8EA6-9CD7-F855F53BB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349" y="736475"/>
            <a:ext cx="2073332" cy="1995583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C93DB80-B535-48D1-93AE-D6C81F8F7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09772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5EFE6759-40B6-1063-B1E5-A01BCE0EF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349" y="2902958"/>
            <a:ext cx="2073332" cy="19955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F4903E-78EF-59FB-2505-80AC9DD02C2B}"/>
              </a:ext>
            </a:extLst>
          </p:cNvPr>
          <p:cNvSpPr txBox="1"/>
          <p:nvPr/>
        </p:nvSpPr>
        <p:spPr>
          <a:xfrm>
            <a:off x="4701747" y="2198914"/>
            <a:ext cx="6847996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Findings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Spam messages are longer (more characters, words, sentences).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Word clouds showed common spam terms like "free", "win", and "urgent".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Visualization Examples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Pie chart of ham vs. spam distribution.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Histograms for message lengths.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796BCD-FD37-460D-A559-7012AC2E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A24B49-C546-4328-9FE4-7161AA626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99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8AD2B-9BFD-D1D6-938E-C5E32C2C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F89FC01-D0CF-4899-A184-1F0070363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E5A9FF-C93F-4A6D-ABDE-2533C301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0A4124-979D-4376-AA58-6501D58B6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42">
            <a:extLst>
              <a:ext uri="{FF2B5EF4-FFF2-40B4-BE49-F238E27FC236}">
                <a16:creationId xmlns:a16="http://schemas.microsoft.com/office/drawing/2014/main" id="{FDAA85DD-7F90-A978-62F8-9A2444F15BE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800" spc="-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Feature Engineering</a:t>
            </a:r>
            <a:endParaRPr lang="en-US" altLang="zh-CN" sz="4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276A1-2A82-18D0-F994-4AC5EE2C4399}"/>
              </a:ext>
            </a:extLst>
          </p:cNvPr>
          <p:cNvSpPr txBox="1"/>
          <p:nvPr/>
        </p:nvSpPr>
        <p:spPr>
          <a:xfrm>
            <a:off x="1097279" y="1845734"/>
            <a:ext cx="645498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Added columns for: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Character count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Word count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Sentence count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CD26E6-DA2A-5FCE-9186-36F054C4B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584" y="1928575"/>
            <a:ext cx="6412189" cy="286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1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680C-E6A9-CD55-107F-0EADC660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2">
            <a:extLst>
              <a:ext uri="{FF2B5EF4-FFF2-40B4-BE49-F238E27FC236}">
                <a16:creationId xmlns:a16="http://schemas.microsoft.com/office/drawing/2014/main" id="{635C62F3-E53C-6B85-2FCD-4D9BD274942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" altLang="zh-CN" sz="4800"/>
              <a:t>Vectorization Techniques</a:t>
            </a:r>
            <a:endParaRPr lang="en-US" altLang="zh-CN" sz="4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C4450-9D7F-E3FD-E13D-5998E059FC61}"/>
              </a:ext>
            </a:extLst>
          </p:cNvPr>
          <p:cNvSpPr txBox="1"/>
          <p:nvPr/>
        </p:nvSpPr>
        <p:spPr>
          <a:xfrm>
            <a:off x="1097279" y="1845734"/>
            <a:ext cx="694738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/>
              <a:t>Bag of Words (BoW)</a:t>
            </a:r>
            <a:r>
              <a:rPr lang="en" altLang="zh-CN"/>
              <a:t>: Simple word frequency.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/>
              <a:t>TF-IDF</a:t>
            </a:r>
            <a:r>
              <a:rPr lang="en" altLang="zh-CN"/>
              <a:t>: Highlighted important terms by balancing frequency and rarity.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7C1469-1C8C-A667-7CED-54E2D3011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9" y="2650462"/>
            <a:ext cx="4807449" cy="28949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F49C3E-6306-4446-AFDD-3557F331D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605" y="2650462"/>
            <a:ext cx="5993008" cy="290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1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D32F7-FE98-A3E9-1C32-7051A96E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2">
            <a:extLst>
              <a:ext uri="{FF2B5EF4-FFF2-40B4-BE49-F238E27FC236}">
                <a16:creationId xmlns:a16="http://schemas.microsoft.com/office/drawing/2014/main" id="{9C54A2F6-D8CA-7D5B-B39A-59B99F8A6D9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" altLang="zh-CN" sz="4800" dirty="0"/>
              <a:t>Algorithms Tested</a:t>
            </a:r>
            <a:endParaRPr lang="en-US" altLang="zh-CN" sz="4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4ECF5-7038-5E74-0460-359C9C605C21}"/>
              </a:ext>
            </a:extLst>
          </p:cNvPr>
          <p:cNvSpPr txBox="1"/>
          <p:nvPr/>
        </p:nvSpPr>
        <p:spPr>
          <a:xfrm>
            <a:off x="1097279" y="1845734"/>
            <a:ext cx="645498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Naive Bayes Variants</a:t>
            </a:r>
            <a:r>
              <a:rPr lang="en" altLang="zh-CN" dirty="0"/>
              <a:t>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/>
              <a:t>Gaussian, Multinomial, Bernoulli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Other Classifiers</a:t>
            </a:r>
            <a:r>
              <a:rPr lang="en" altLang="zh-CN" dirty="0"/>
              <a:t>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/>
              <a:t>Logistic Regression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/>
              <a:t>SVM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/>
              <a:t>Random Forest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/>
              <a:t>Gradient Boosting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 err="1"/>
              <a:t>XGBoost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B2B88D-E904-B960-F1F1-824905240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80" y="1098637"/>
            <a:ext cx="4940300" cy="20193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F8AE36C-B8CE-AA42-ECA0-D63D36AD0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309" y="3408218"/>
            <a:ext cx="7772400" cy="217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77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EDA6B-0172-465D-8F93-5C4D10E0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2">
            <a:extLst>
              <a:ext uri="{FF2B5EF4-FFF2-40B4-BE49-F238E27FC236}">
                <a16:creationId xmlns:a16="http://schemas.microsoft.com/office/drawing/2014/main" id="{17EE8B55-0BE9-8F5C-6304-DDD5C316C9D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" altLang="zh-CN" sz="4800" dirty="0"/>
              <a:t>Model Performance</a:t>
            </a:r>
            <a:endParaRPr lang="en-US" altLang="zh-CN" sz="4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4993A-1FFB-9BA3-C5CA-B2583FB2B83D}"/>
              </a:ext>
            </a:extLst>
          </p:cNvPr>
          <p:cNvSpPr txBox="1"/>
          <p:nvPr/>
        </p:nvSpPr>
        <p:spPr>
          <a:xfrm>
            <a:off x="1097279" y="1845734"/>
            <a:ext cx="645498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Best Model</a:t>
            </a:r>
            <a:r>
              <a:rPr lang="en" altLang="zh-CN" dirty="0"/>
              <a:t>: Multinomial Naive Bayes with TF-IDF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Accuracy</a:t>
            </a:r>
            <a:r>
              <a:rPr lang="en" altLang="zh-CN" dirty="0"/>
              <a:t>: 97.09%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Precision</a:t>
            </a:r>
            <a:r>
              <a:rPr lang="en" altLang="zh-CN" dirty="0"/>
              <a:t>: 100%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endParaRPr lang="en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Runner-Up</a:t>
            </a:r>
            <a:r>
              <a:rPr lang="en" altLang="zh-CN" dirty="0"/>
              <a:t>: Bernoulli Naive Bayes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Accuracy</a:t>
            </a:r>
            <a:r>
              <a:rPr lang="en" altLang="zh-CN" dirty="0"/>
              <a:t>: 98.16%</a:t>
            </a:r>
            <a:endParaRPr lang="en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Precision</a:t>
            </a:r>
            <a:r>
              <a:rPr lang="en" altLang="zh-CN" dirty="0"/>
              <a:t>: 99.17%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Other models like SVM and Random Forest performed well but fell short of Naive Bayes in precision.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8563B0-433F-D573-94A5-66967BC5F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241" y="1737360"/>
            <a:ext cx="42545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2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A97EF-1133-2ED4-5C98-D308DFC1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2">
            <a:extLst>
              <a:ext uri="{FF2B5EF4-FFF2-40B4-BE49-F238E27FC236}">
                <a16:creationId xmlns:a16="http://schemas.microsoft.com/office/drawing/2014/main" id="{41FB5D4F-AE82-F00C-3832-BD9A4D56692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" altLang="zh-CN" sz="4800" dirty="0"/>
              <a:t>Discussion</a:t>
            </a:r>
            <a:endParaRPr lang="en-US" altLang="zh-CN" sz="4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3537B-2B5B-04A8-76E7-8571172CA549}"/>
              </a:ext>
            </a:extLst>
          </p:cNvPr>
          <p:cNvSpPr txBox="1"/>
          <p:nvPr/>
        </p:nvSpPr>
        <p:spPr>
          <a:xfrm>
            <a:off x="1097279" y="1845734"/>
            <a:ext cx="645498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Why Naive Bayes?</a:t>
            </a:r>
            <a:endParaRPr lang="en" altLang="zh-CN" dirty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/>
              <a:t>Computationally efficient.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/>
              <a:t>High precision and recall on text classification tasks.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Limitations</a:t>
            </a:r>
            <a:r>
              <a:rPr lang="en" altLang="zh-CN" dirty="0"/>
              <a:t>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/>
              <a:t>Dataset imbalance impacts recall.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dirty="0"/>
              <a:t>Requires continuous updating for evolving spam patterns.</a:t>
            </a:r>
          </a:p>
        </p:txBody>
      </p:sp>
    </p:spTree>
    <p:extLst>
      <p:ext uri="{BB962C8B-B14F-4D97-AF65-F5344CB8AC3E}">
        <p14:creationId xmlns:p14="http://schemas.microsoft.com/office/powerpoint/2010/main" val="3044441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5E0BE-317C-EC10-ED0A-EF6AA97F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2">
            <a:extLst>
              <a:ext uri="{FF2B5EF4-FFF2-40B4-BE49-F238E27FC236}">
                <a16:creationId xmlns:a16="http://schemas.microsoft.com/office/drawing/2014/main" id="{1E16939D-C5DB-E6B1-6BB8-7E9810139F3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" altLang="zh-CN" sz="4800" dirty="0"/>
              <a:t>Future Work</a:t>
            </a:r>
            <a:endParaRPr lang="en-US" altLang="zh-CN" sz="4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9EF5A-8A96-5255-D6ED-FE311BE277AB}"/>
              </a:ext>
            </a:extLst>
          </p:cNvPr>
          <p:cNvSpPr txBox="1"/>
          <p:nvPr/>
        </p:nvSpPr>
        <p:spPr>
          <a:xfrm>
            <a:off x="1097279" y="1845734"/>
            <a:ext cx="8252204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Expand Dataset</a:t>
            </a:r>
            <a:r>
              <a:rPr lang="en" altLang="zh-CN" dirty="0"/>
              <a:t>: Include more diverse and recent data.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Experiment with Deep Learning</a:t>
            </a:r>
            <a:r>
              <a:rPr lang="en" altLang="zh-CN" dirty="0"/>
              <a:t>: LSTM or Transformers.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Hybrid Models</a:t>
            </a:r>
            <a:r>
              <a:rPr lang="en" altLang="zh-CN" dirty="0"/>
              <a:t>: Combine Naive Bayes with others for improved performance.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-"/>
            </a:pPr>
            <a:r>
              <a:rPr lang="en" altLang="zh-CN" b="1" dirty="0"/>
              <a:t>Real-Time Testing</a:t>
            </a:r>
            <a:r>
              <a:rPr lang="en" altLang="zh-CN" dirty="0"/>
              <a:t>: Deploy in live environments.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281468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CF4C-46AE-F0DB-1CED-8A69326F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2">
            <a:extLst>
              <a:ext uri="{FF2B5EF4-FFF2-40B4-BE49-F238E27FC236}">
                <a16:creationId xmlns:a16="http://schemas.microsoft.com/office/drawing/2014/main" id="{D5EB83C5-F068-7817-19A3-00645804FB8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" altLang="zh-CN" sz="4800" dirty="0"/>
              <a:t>Conclusion</a:t>
            </a:r>
            <a:endParaRPr lang="en-US" altLang="zh-CN" sz="4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A7DD9-228F-959E-F834-50C123A42B15}"/>
              </a:ext>
            </a:extLst>
          </p:cNvPr>
          <p:cNvSpPr txBox="1"/>
          <p:nvPr/>
        </p:nvSpPr>
        <p:spPr>
          <a:xfrm>
            <a:off x="1097279" y="1845734"/>
            <a:ext cx="8252204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b="1" dirty="0"/>
              <a:t>Achievements</a:t>
            </a:r>
            <a:r>
              <a:rPr lang="en" altLang="zh-CN" dirty="0"/>
              <a:t>: Developed a robust spam detection system.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b="1" dirty="0"/>
              <a:t>Outcome</a:t>
            </a:r>
            <a:r>
              <a:rPr lang="en" altLang="zh-CN" dirty="0"/>
              <a:t>: High accuracy and perfect precision with Multinomial Naive Bayes and TF-IDF.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Tx/>
              <a:buChar char="-"/>
            </a:pPr>
            <a:r>
              <a:rPr lang="en" altLang="zh-CN" b="1" dirty="0"/>
              <a:t>Next Steps</a:t>
            </a:r>
            <a:r>
              <a:rPr lang="en" altLang="zh-CN" dirty="0"/>
              <a:t>: Broaden dataset and refine models.</a:t>
            </a:r>
          </a:p>
        </p:txBody>
      </p:sp>
    </p:spTree>
    <p:extLst>
      <p:ext uri="{BB962C8B-B14F-4D97-AF65-F5344CB8AC3E}">
        <p14:creationId xmlns:p14="http://schemas.microsoft.com/office/powerpoint/2010/main" val="651853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42"/>
          <p:cNvSpPr txBox="1"/>
          <p:nvPr>
            <p:custDataLst>
              <p:tags r:id="rId1"/>
            </p:custDataLst>
          </p:nvPr>
        </p:nvSpPr>
        <p:spPr>
          <a:xfrm>
            <a:off x="4603893" y="2123418"/>
            <a:ext cx="6710958" cy="26111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200000"/>
              </a:lnSpc>
            </a:pPr>
            <a:r>
              <a:rPr lang="en-US" altLang="zh-CN" sz="4400" b="1" dirty="0">
                <a:solidFill>
                  <a:schemeClr val="accent2"/>
                </a:solidFill>
                <a:ea typeface="微软雅黑" panose="020B0503020204020204" charset="-122"/>
                <a:cs typeface="Arial" panose="020B0604020202020204" pitchFamily="34" charset="0"/>
              </a:rPr>
              <a:t>Thank you</a:t>
            </a:r>
            <a:r>
              <a:rPr lang="zh-CN" altLang="en-US" sz="4400" b="1" dirty="0">
                <a:solidFill>
                  <a:schemeClr val="accent2"/>
                </a:solidFill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4400" b="1" dirty="0">
                <a:solidFill>
                  <a:schemeClr val="accent2"/>
                </a:solidFill>
                <a:ea typeface="微软雅黑" panose="020B0503020204020204" charset="-122"/>
                <a:cs typeface="Arial" panose="020B0604020202020204" pitchFamily="34" charset="0"/>
              </a:rPr>
              <a:t>for listening</a:t>
            </a:r>
          </a:p>
          <a:p>
            <a:pPr algn="ctr">
              <a:lnSpc>
                <a:spcPct val="200000"/>
              </a:lnSpc>
            </a:pPr>
            <a:r>
              <a:rPr lang="en-US" altLang="zh-CN" sz="4400" b="1" dirty="0">
                <a:solidFill>
                  <a:schemeClr val="accent2"/>
                </a:solidFill>
                <a:ea typeface="微软雅黑" panose="020B0503020204020204" charset="-122"/>
                <a:cs typeface="Arial" panose="020B0604020202020204" pitchFamily="34" charset="0"/>
              </a:rPr>
              <a:t>Q &amp; A</a:t>
            </a:r>
          </a:p>
        </p:txBody>
      </p:sp>
      <p:cxnSp>
        <p:nvCxnSpPr>
          <p:cNvPr id="4" name="直接连接符 10"/>
          <p:cNvCxnSpPr/>
          <p:nvPr>
            <p:custDataLst>
              <p:tags r:id="rId2"/>
            </p:custDataLst>
          </p:nvPr>
        </p:nvCxnSpPr>
        <p:spPr>
          <a:xfrm>
            <a:off x="6196711" y="3593878"/>
            <a:ext cx="3525323" cy="0"/>
          </a:xfrm>
          <a:prstGeom prst="line">
            <a:avLst/>
          </a:prstGeom>
          <a:ln w="28575" cmpd="sng">
            <a:solidFill>
              <a:schemeClr val="accent2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Premium Vector | Cheers toast and clink glasses of wine">
            <a:extLst>
              <a:ext uri="{FF2B5EF4-FFF2-40B4-BE49-F238E27FC236}">
                <a16:creationId xmlns:a16="http://schemas.microsoft.com/office/drawing/2014/main" id="{6D1DBB4A-00F7-B305-1FD2-E311E0404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15" y="0"/>
            <a:ext cx="4307799" cy="319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6e8d9c3-69f9-4973-8b8b-f08141041c30"/>
  <p:tag name="COMMONDATA" val="eyJoZGlkIjoiOGI4NDUzYmVjOGU0ZTVlODEwMGRlMmQyYTUwZTk2MW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304</TotalTime>
  <Words>411</Words>
  <Application>Microsoft Macintosh PowerPoint</Application>
  <PresentationFormat>宽屏</PresentationFormat>
  <Paragraphs>82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DengXian</vt:lpstr>
      <vt:lpstr>微软雅黑</vt:lpstr>
      <vt:lpstr>Arial</vt:lpstr>
      <vt:lpstr>Calibri</vt:lpstr>
      <vt:lpstr>Calibri Light</vt:lpstr>
      <vt:lpstr>Retrospect</vt:lpstr>
      <vt:lpstr>Spam Detection Using NLP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HIV Dataset for Kazakhstan, Malaysia, Thailand and Vietnam</dc:title>
  <dc:creator>Shelly</dc:creator>
  <cp:lastModifiedBy>Zihan Wang</cp:lastModifiedBy>
  <cp:revision>18</cp:revision>
  <dcterms:created xsi:type="dcterms:W3CDTF">2023-03-23T02:32:00Z</dcterms:created>
  <dcterms:modified xsi:type="dcterms:W3CDTF">2024-12-08T17:25:19Z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5207EF8C263846D9813A0577CC94286D</vt:lpwstr>
  </property>
  <property fmtid="{D5CDD505-2E9C-101B-9397-08002B2CF9AE}" pid="3" name="KSOProductBuildVer">
    <vt:lpwstr>2052-11.1.0.13703</vt:lpwstr>
  </property>
</Properties>
</file>